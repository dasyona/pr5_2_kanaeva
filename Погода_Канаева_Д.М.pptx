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Овал 1"/>
          <p:cNvSpPr/>
          <p:nvPr/>
        </p:nvSpPr>
        <p:spPr>
          <a:xfrm>
            <a:off x="7620000" y="-2159000"/>
            <a:ext cx="7874000" cy="7874000"/>
          </a:xfrm>
          <a:prstGeom prst="ellipse">
            <a:avLst/>
          </a:prstGeom>
          <a:solidFill>
            <a:srgbClr val="FF2E93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Овал 2"/>
          <p:cNvSpPr/>
          <p:nvPr/>
        </p:nvSpPr>
        <p:spPr>
          <a:xfrm>
            <a:off x="9779000" y="3810000"/>
            <a:ext cx="4826000" cy="4826000"/>
          </a:xfrm>
          <a:prstGeom prst="ellipse">
            <a:avLst/>
          </a:prstGeom>
          <a:solidFill>
            <a:srgbClr val="FFB3D9">
              <a:alpha val="8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12800" y="5080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spcAft>
                <a:spcPts val="200"/>
              </a:spcAft>
            </a:pPr>
            <a:r>
              <a:rPr lang="ru-RU" altLang="en-US" sz="900">
                <a:solidFill>
                  <a:srgbClr val="E7A9C6"/>
                </a:solidFill>
                <a:latin typeface="Segoe UI" panose="020B0502040204020203" charset="0"/>
                <a:cs typeface="Segoe UI" panose="020B0502040204020203" charset="0"/>
              </a:rPr>
              <a:t>МИНИСТЕРСТВО ОБРАЗОВАНИЯ</a:t>
            </a:r>
            <a:endParaRPr lang="ru-RU" altLang="en-US" sz="900">
              <a:solidFill>
                <a:srgbClr val="E7A9C6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200"/>
              </a:spcAft>
            </a:pPr>
            <a:r>
              <a:rPr lang="ru-RU" altLang="en-US" sz="900">
                <a:solidFill>
                  <a:srgbClr val="E7A9C6"/>
                </a:solidFill>
                <a:latin typeface="Segoe UI" panose="020B0502040204020203" charset="0"/>
                <a:cs typeface="Segoe UI" panose="020B0502040204020203" charset="0"/>
              </a:rPr>
              <a:t>И МОЛОДЕЖНОЙ ПОЛИТИКИ СВЕРДЛОВСКОЙ ОБЛАСТИ</a:t>
            </a:r>
            <a:endParaRPr lang="ru-RU" altLang="en-US" sz="900">
              <a:solidFill>
                <a:srgbClr val="E7A9C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812800" y="10668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00">
                <a:solidFill>
                  <a:srgbClr val="E7A9C6"/>
                </a:solidFill>
                <a:latin typeface="Segoe UI" panose="020B0502040204020203" charset="0"/>
                <a:cs typeface="Segoe UI" panose="020B0502040204020203" charset="0"/>
              </a:rPr>
              <a:t>ГАПОУ СО «ЕКАТЕРИНБУРГСКИЙ КОЛЛЕДЖ ТРАНСПОРТНОГО СТРОИТЕЛЬСТВА»</a:t>
            </a:r>
            <a:endParaRPr lang="ru-RU" altLang="en-US" sz="900">
              <a:solidFill>
                <a:srgbClr val="E7A9C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12800" y="25146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Мобильное приложение</a:t>
            </a:r>
            <a:endParaRPr lang="ru-RU" alt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12800" y="31496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46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«Погода»</a:t>
            </a:r>
            <a:endParaRPr lang="ru-RU" altLang="en-US" sz="46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12800" y="4064000"/>
            <a:ext cx="6604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ru-RU" altLang="en-US" sz="1350">
              <a:solidFill>
                <a:srgbClr val="D8B2C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12800" y="4876800"/>
            <a:ext cx="6604000" cy="1066800"/>
          </a:xfrm>
          <a:prstGeom prst="roundRect">
            <a:avLst/>
          </a:prstGeom>
          <a:solidFill>
            <a:srgbClr val="2412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17600" y="5105400"/>
            <a:ext cx="596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Работу выполнила: Канаева Д.М.</a:t>
            </a:r>
            <a:endParaRPr lang="ru-RU" alt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117600" y="5461000"/>
            <a:ext cx="596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C79BB2"/>
                </a:solidFill>
                <a:latin typeface="Segoe UI" panose="020B0502040204020203" charset="0"/>
                <a:cs typeface="Segoe UI" panose="020B0502040204020203" charset="0"/>
              </a:rPr>
              <a:t>Группа: ПР-31      Руководитель: Мирошниченко Г.В</a:t>
            </a:r>
            <a:endParaRPr lang="ru-RU" altLang="en-US" sz="1100">
              <a:solidFill>
                <a:srgbClr val="C79BB2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812800" y="60960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ru-RU" altLang="en-US" sz="950">
              <a:solidFill>
                <a:srgbClr val="B36A8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8255000" y="1524000"/>
            <a:ext cx="3810000" cy="3810000"/>
          </a:xfrm>
          <a:prstGeom prst="ellipse">
            <a:avLst/>
          </a:prstGeom>
          <a:solidFill>
            <a:srgbClr val="FF2E93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15" name="Изображение 14" descr="icon_circ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955800"/>
            <a:ext cx="2946400" cy="294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О разработке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12800" y="1727200"/>
            <a:ext cx="1056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spcAft>
                <a:spcPts val="1000"/>
              </a:spcAft>
            </a:pPr>
            <a:r>
              <a:rPr lang="ru-RU" altLang="en-US" sz="15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«Погода» — Android-приложение, которое показывает актуальные погодные данные для любого города мира.</a:t>
            </a:r>
            <a:endParaRPr lang="ru-RU" altLang="en-US" sz="15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1000"/>
              </a:spcAft>
            </a:pPr>
            <a:r>
              <a:rPr lang="ru-RU" altLang="en-US" sz="15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Пользователь вводит название города — приложение отправляет запрос к сервису OpenWeatherMap и выводит температуру, давление и скорость ветра.</a:t>
            </a:r>
            <a:endParaRPr lang="ru-RU" altLang="en-US" sz="15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12800" y="4191000"/>
            <a:ext cx="3302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117600" y="4470400"/>
            <a:ext cx="4318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17600" y="46482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ТЕМПЕРАТУРА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117600" y="49276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0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°C</a:t>
            </a:r>
            <a:endParaRPr lang="ru-RU" altLang="en-US" sz="2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17600" y="53848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в градусах Цельсия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445000" y="4191000"/>
            <a:ext cx="3302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4749800" y="4470400"/>
            <a:ext cx="4318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4749800" y="46482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ДАВЛЕНИЕ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749800" y="49276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0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мм рт. ст.</a:t>
            </a:r>
            <a:endParaRPr lang="ru-RU" altLang="en-US" sz="2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749800" y="53848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перевод из гектопаскалей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8077200" y="4191000"/>
            <a:ext cx="3302000" cy="152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Прямоугольник 17"/>
          <p:cNvSpPr/>
          <p:nvPr/>
        </p:nvSpPr>
        <p:spPr>
          <a:xfrm>
            <a:off x="8382000" y="4470400"/>
            <a:ext cx="4318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8382000" y="46482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ВЕТЕР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8382000" y="49276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0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м/с</a:t>
            </a:r>
            <a:endParaRPr lang="ru-RU" altLang="en-US" sz="2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8382000" y="5384800"/>
            <a:ext cx="2692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скорость ветра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22" name="Прямое соединение 21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Текстовое поле 23"/>
          <p:cNvSpPr txBox="1"/>
          <p:nvPr/>
        </p:nvSpPr>
        <p:spPr>
          <a:xfrm>
            <a:off x="7569200" y="64262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ЦЕЛИ И ЗАДАЧИ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Цели и задачи проекта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12800" y="1574800"/>
            <a:ext cx="10566400" cy="1219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cxnSp>
        <p:nvCxnSpPr>
          <p:cNvPr id="7" name="Прямое соединение 6"/>
          <p:cNvCxnSpPr/>
          <p:nvPr/>
        </p:nvCxnSpPr>
        <p:spPr>
          <a:xfrm>
            <a:off x="838200" y="1625600"/>
            <a:ext cx="635" cy="1117600"/>
          </a:xfrm>
          <a:prstGeom prst="line">
            <a:avLst/>
          </a:prstGeom>
          <a:ln w="50800">
            <a:solidFill>
              <a:srgbClr val="FF2E9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Текстовое поле 7"/>
          <p:cNvSpPr txBox="1"/>
          <p:nvPr/>
        </p:nvSpPr>
        <p:spPr>
          <a:xfrm>
            <a:off x="1168400" y="1803400"/>
            <a:ext cx="965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ЦЕЛЬ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68400" y="2057400"/>
            <a:ext cx="9779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Разработать мобильное приложение для получения актуальной информации о погоде с простым и современным интерфейсом.</a:t>
            </a:r>
            <a:endParaRPr lang="ru-RU" altLang="en-US" sz="14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812800" y="3124200"/>
            <a:ext cx="508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ЗАДАЧИ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812800" y="3530600"/>
            <a:ext cx="330200" cy="3302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12800" y="3594100"/>
            <a:ext cx="330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1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1</a:t>
            </a:r>
            <a:endParaRPr lang="ru-RU" altLang="en-US" sz="11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1320800" y="3568700"/>
            <a:ext cx="990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Изучить документацию OpenWeatherMap API и формат ответа JSON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812800" y="4013200"/>
            <a:ext cx="330200" cy="3302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812800" y="4076700"/>
            <a:ext cx="330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1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ru-RU" altLang="en-US" sz="11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1320800" y="4051300"/>
            <a:ext cx="990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Подобрать инструменты разработки под Android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812800" y="4495800"/>
            <a:ext cx="330200" cy="3302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812800" y="4559300"/>
            <a:ext cx="330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1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3</a:t>
            </a:r>
            <a:endParaRPr lang="ru-RU" altLang="en-US" sz="11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1320800" y="4533900"/>
            <a:ext cx="990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Спроектировать простой и понятный интерфейс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812800" y="4978400"/>
            <a:ext cx="330200" cy="3302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812800" y="5041900"/>
            <a:ext cx="330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1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4</a:t>
            </a:r>
            <a:endParaRPr lang="ru-RU" altLang="en-US" sz="11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320800" y="5016500"/>
            <a:ext cx="990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Реализовать запрос данных и вывод результата на экран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812800" y="5461000"/>
            <a:ext cx="330200" cy="3302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4" name="Текстовое поле 23"/>
          <p:cNvSpPr txBox="1"/>
          <p:nvPr/>
        </p:nvSpPr>
        <p:spPr>
          <a:xfrm>
            <a:off x="812800" y="5524500"/>
            <a:ext cx="330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1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5</a:t>
            </a:r>
            <a:endParaRPr lang="ru-RU" altLang="en-US" sz="11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1320800" y="5499100"/>
            <a:ext cx="990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Протестировать приложение на реальном устройстве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26" name="Прямое соединение 25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Текстовое поле 26"/>
          <p:cNvSpPr txBox="1"/>
          <p:nvPr/>
        </p:nvSpPr>
        <p:spPr>
          <a:xfrm>
            <a:off x="812800" y="6426200"/>
            <a:ext cx="635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Погода • Канаева Д.М.</a:t>
            </a:r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Текстовое поле 27"/>
          <p:cNvSpPr txBox="1"/>
          <p:nvPr/>
        </p:nvSpPr>
        <p:spPr>
          <a:xfrm>
            <a:off x="7569200" y="64262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ru-RU" altLang="en-US" sz="9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ГАПОУ СО «ЕКТС» • 2026</a:t>
            </a:r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ХАРАКТЕРИСТИКИ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Функциональные характеристики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12800" y="1778000"/>
            <a:ext cx="3302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143000" y="2184400"/>
            <a:ext cx="5080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143000" y="23876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АКТУАЛЬНОСТЬ</a:t>
            </a:r>
            <a:endParaRPr lang="ru-RU" altLang="en-US" sz="12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43000" y="2997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Данные о погоде приходят с сервиса в момент запроса — пользователю не нужно вводить их вручную.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445000" y="1778000"/>
            <a:ext cx="3302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775200" y="2184400"/>
            <a:ext cx="5080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775200" y="23876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ЛАКОНИЧНОСТЬ И ПРОСТОТА</a:t>
            </a:r>
            <a:endParaRPr lang="ru-RU" altLang="en-US" sz="12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775200" y="2997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Всего один экран, одно поле ввода и одна кнопка. Интерфейс не перегружен лишними элементами.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077200" y="1778000"/>
            <a:ext cx="3302000" cy="3175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Прямоугольник 14"/>
          <p:cNvSpPr/>
          <p:nvPr/>
        </p:nvSpPr>
        <p:spPr>
          <a:xfrm>
            <a:off x="8407400" y="2184400"/>
            <a:ext cx="5080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8407400" y="23876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ПРИВЛЕКАТЕЛЬНОСТЬ</a:t>
            </a:r>
            <a:endParaRPr lang="ru-RU" altLang="en-US" sz="12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407400" y="2997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Чёрно-розовая тема, крупные акценты и понятная типографика делают работу с приложением приятной.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ИНСТРУМЕНТЫ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Используемые инструменты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12800" y="16764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812800" y="19050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117600" y="18796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Android Studio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17600" y="22352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среда разработки приложения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99200" y="16764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9200" y="19050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6604000" y="18796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Kotlin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604000" y="22352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язык программирования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12800" y="29718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Прямоугольник 14"/>
          <p:cNvSpPr/>
          <p:nvPr/>
        </p:nvSpPr>
        <p:spPr>
          <a:xfrm>
            <a:off x="812800" y="32004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1117600" y="31750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Volley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1117600" y="35306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выполнение HTTP-запросов к API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6299200" y="29718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6299200" y="32004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6604000" y="31750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OpenWeatherMap API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6604000" y="35306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источник данных о погоде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812800" y="42672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3" name="Прямоугольник 22"/>
          <p:cNvSpPr/>
          <p:nvPr/>
        </p:nvSpPr>
        <p:spPr>
          <a:xfrm>
            <a:off x="812800" y="44958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4" name="Текстовое поле 23"/>
          <p:cNvSpPr txBox="1"/>
          <p:nvPr/>
        </p:nvSpPr>
        <p:spPr>
          <a:xfrm>
            <a:off x="1117600" y="44704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JSON (org.json)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1117600" y="48260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разбор ответа сервиса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6299200" y="4267200"/>
            <a:ext cx="5080000" cy="1117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7" name="Прямоугольник 26"/>
          <p:cNvSpPr/>
          <p:nvPr/>
        </p:nvSpPr>
        <p:spPr>
          <a:xfrm>
            <a:off x="6299200" y="4495800"/>
            <a:ext cx="63500" cy="6604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8" name="Текстовое поле 27"/>
          <p:cNvSpPr txBox="1"/>
          <p:nvPr/>
        </p:nvSpPr>
        <p:spPr>
          <a:xfrm>
            <a:off x="6604000" y="44704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Material 3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Текстовое поле 28"/>
          <p:cNvSpPr txBox="1"/>
          <p:nvPr/>
        </p:nvSpPr>
        <p:spPr>
          <a:xfrm>
            <a:off x="6604000" y="4826000"/>
            <a:ext cx="4445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оформление интерфейса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30" name="Прямое соединение 29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Текстовое поле 31"/>
          <p:cNvSpPr txBox="1"/>
          <p:nvPr/>
        </p:nvSpPr>
        <p:spPr>
          <a:xfrm>
            <a:off x="7569200" y="64262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ИНТЕРФЕЙС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Главное окно программы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12800" y="1778000"/>
            <a:ext cx="635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spcAft>
                <a:spcPts val="0"/>
              </a:spcAft>
            </a:pPr>
            <a:r>
              <a:rPr lang="ru-RU" altLang="en-US" sz="14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Простота интерфейса способствует быстрому взаимодействию пользователя с информацией.</a:t>
            </a:r>
            <a:endParaRPr lang="ru-RU" altLang="en-US" sz="14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812800" y="29210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066800" y="27686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Поле ввода названия города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812800" y="33782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066800" y="32258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Кнопка «Узнать погоду»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812800" y="38354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066800" y="36830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Проверка на пустое поле и подсказка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812800" y="42926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1066800" y="41402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Чёрный фон и розовые акценты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153400" y="1117600"/>
            <a:ext cx="3378200" cy="5080000"/>
          </a:xfrm>
          <a:prstGeom prst="roundRect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16" name="Изображение 15" descr="screen_empty"/>
          <p:cNvPicPr>
            <a:picLocks noChangeAspect="1"/>
          </p:cNvPicPr>
          <p:nvPr/>
        </p:nvPicPr>
        <p:blipFill>
          <a:blip r:embed="rId1"/>
          <a:srcRect t="5677" b="12359"/>
          <a:stretch>
            <a:fillRect/>
          </a:stretch>
        </p:blipFill>
        <p:spPr>
          <a:xfrm>
            <a:off x="8509000" y="1652270"/>
            <a:ext cx="2667000" cy="3933190"/>
          </a:xfrm>
          <a:prstGeom prst="rect">
            <a:avLst/>
          </a:prstGeom>
        </p:spPr>
      </p:pic>
      <p:cxnSp>
        <p:nvCxnSpPr>
          <p:cNvPr id="17" name="Прямое соединение 16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РЕЗУЛЬТАТ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Результат запроса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38200" y="1422400"/>
            <a:ext cx="3073400" cy="4876800"/>
          </a:xfrm>
          <a:prstGeom prst="roundRect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7" name="Изображение 6" descr="screen_result"/>
          <p:cNvPicPr>
            <a:picLocks noChangeAspect="1"/>
          </p:cNvPicPr>
          <p:nvPr/>
        </p:nvPicPr>
        <p:blipFill>
          <a:blip r:embed="rId1"/>
          <a:srcRect l="1500" t="2642" r="-1500" b="20121"/>
          <a:stretch>
            <a:fillRect/>
          </a:stretch>
        </p:blipFill>
        <p:spPr>
          <a:xfrm>
            <a:off x="1104900" y="1609090"/>
            <a:ext cx="2540000" cy="363918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4953000" y="1778000"/>
            <a:ext cx="6426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После ответа сервиса на экране появляются:</a:t>
            </a:r>
            <a:endParaRPr lang="ru-RU" altLang="en-US" sz="14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4953000" y="27178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207000" y="25654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Название города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4953000" y="31750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5207000" y="30226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Температура в градусах Цельсия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4953000" y="36322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5207000" y="34798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Давление в мм рт. ст.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4953000" y="4089400"/>
            <a:ext cx="101600" cy="101600"/>
          </a:xfrm>
          <a:prstGeom prst="ellipse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5207000" y="3937000"/>
            <a:ext cx="584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Скорость ветра в м/с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4953000" y="4648200"/>
            <a:ext cx="6426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ru-RU" altLang="en-US" sz="10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Текстовое поле 18"/>
          <p:cNvSpPr txBox="1"/>
          <p:nvPr/>
        </p:nvSpPr>
        <p:spPr>
          <a:xfrm>
            <a:off x="812800" y="6426200"/>
            <a:ext cx="635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НАДЁЖНОСТЬ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Обработка ошибок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12800" y="1651000"/>
            <a:ext cx="1056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Приложение различает причины сбоя и показывает понятное сообщение вместо одной общей ошибки.</a:t>
            </a:r>
            <a:endParaRPr lang="ru-RU" altLang="en-US" sz="140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12800" y="2311400"/>
            <a:ext cx="50800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066800" y="2603500"/>
            <a:ext cx="838200" cy="838200"/>
          </a:xfrm>
          <a:prstGeom prst="roundRect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066800" y="2844800"/>
            <a:ext cx="838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7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404</a:t>
            </a:r>
            <a:endParaRPr lang="ru-RU" altLang="en-US" sz="17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2133600" y="2616200"/>
            <a:ext cx="355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Город не найден</a:t>
            </a:r>
            <a:endParaRPr lang="ru-RU" altLang="en-US" sz="13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2133600" y="2946400"/>
            <a:ext cx="355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Подсказка ввести название на английском</a:t>
            </a:r>
            <a:endParaRPr lang="ru-RU" altLang="en-US" sz="10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99200" y="2311400"/>
            <a:ext cx="5080000" cy="1422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553200" y="2603500"/>
            <a:ext cx="838200" cy="838200"/>
          </a:xfrm>
          <a:prstGeom prst="roundRect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6553200" y="2844800"/>
            <a:ext cx="838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17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401</a:t>
            </a:r>
            <a:endParaRPr lang="ru-RU" altLang="en-US" sz="17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7620000" y="2616200"/>
            <a:ext cx="355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Неверный API-ключ</a:t>
            </a:r>
            <a:endParaRPr lang="ru-RU" altLang="en-US" sz="13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7620000" y="2946400"/>
            <a:ext cx="3556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Ключ отключён или ещё не активирован</a:t>
            </a:r>
            <a:endParaRPr lang="ru-RU" altLang="en-US" sz="10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27" name="Прямое соединение 26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ДИЗАЙН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Дизайн приложения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12800" y="1651000"/>
            <a:ext cx="7112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350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Чёрно-розовая палитра связывает приложение с его иконкой и делает акценты заметными на тёмном фоне.</a:t>
            </a:r>
            <a:endParaRPr lang="ru-RU" altLang="en-US" sz="1350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12800" y="2743200"/>
            <a:ext cx="1320800" cy="13208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812800" y="4191000"/>
            <a:ext cx="1320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#000000</a:t>
            </a:r>
            <a:endParaRPr lang="ru-RU" altLang="en-US" sz="1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12800" y="4419600"/>
            <a:ext cx="1320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чёрный фон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387600" y="2743200"/>
            <a:ext cx="1320800" cy="1320800"/>
          </a:xfrm>
          <a:prstGeom prst="round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2387600" y="4191000"/>
            <a:ext cx="1320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#FF2E93</a:t>
            </a:r>
            <a:endParaRPr lang="ru-RU" altLang="en-US" sz="1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2387600" y="4419600"/>
            <a:ext cx="1320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основной акцент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3962400" y="4191000"/>
            <a:ext cx="13208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endParaRPr lang="ru-RU" altLang="en-US" sz="10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Текстовое поле 18"/>
          <p:cNvSpPr txBox="1"/>
          <p:nvPr/>
        </p:nvSpPr>
        <p:spPr>
          <a:xfrm>
            <a:off x="8128000" y="1651000"/>
            <a:ext cx="3251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B3006B"/>
                </a:solidFill>
                <a:latin typeface="Segoe UI" panose="020B0502040204020203" charset="0"/>
                <a:cs typeface="Segoe UI" panose="020B0502040204020203" charset="0"/>
              </a:rPr>
              <a:t>ИКОНКА</a:t>
            </a:r>
            <a:endParaRPr lang="ru-RU" altLang="en-US" sz="1000" b="1">
              <a:solidFill>
                <a:srgbClr val="B3006B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Овал 19"/>
          <p:cNvSpPr/>
          <p:nvPr/>
        </p:nvSpPr>
        <p:spPr>
          <a:xfrm>
            <a:off x="8763000" y="2032000"/>
            <a:ext cx="2540000" cy="2540000"/>
          </a:xfrm>
          <a:prstGeom prst="ellipse">
            <a:avLst/>
          </a:prstGeom>
          <a:solidFill>
            <a:srgbClr val="FFE3F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21" name="Изображение 20" descr="icon_circ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0" y="2159000"/>
            <a:ext cx="2286000" cy="2286000"/>
          </a:xfrm>
          <a:prstGeom prst="rect">
            <a:avLst/>
          </a:prstGeom>
        </p:spPr>
      </p:pic>
      <p:sp>
        <p:nvSpPr>
          <p:cNvPr id="22" name="Текстовое поле 21"/>
          <p:cNvSpPr txBox="1"/>
          <p:nvPr/>
        </p:nvSpPr>
        <p:spPr>
          <a:xfrm>
            <a:off x="8128000" y="4648200"/>
            <a:ext cx="32512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Адаптивная иконка приложения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Текстовое поле 22"/>
          <p:cNvSpPr txBox="1"/>
          <p:nvPr/>
        </p:nvSpPr>
        <p:spPr>
          <a:xfrm>
            <a:off x="812800" y="5054600"/>
            <a:ext cx="6858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.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24" name="Прямое соединение 23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АРХИТЕКТУРА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Как работает приложение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ru-RU" altLang="en-US" sz="4400" b="1">
                <a:solidFill>
                  <a:srgbClr val="FFE3F1"/>
                </a:solidFill>
                <a:latin typeface="Segoe UI" panose="020B0502040204020203" charset="0"/>
                <a:cs typeface="Segoe UI" panose="020B0502040204020203" charset="0"/>
              </a:rPr>
              <a:t>10</a:t>
            </a:r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73200" y="2362200"/>
            <a:ext cx="2159000" cy="167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727200" y="2590800"/>
            <a:ext cx="4572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727200" y="274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727200" y="30226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Ввод города</a:t>
            </a:r>
            <a:endParaRPr lang="ru-RU" altLang="en-US" sz="12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1727200" y="3378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Пользователь вводит название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3657600" y="3060700"/>
            <a:ext cx="177800" cy="279400"/>
          </a:xfrm>
          <a:prstGeom prst="rightArrow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835400" y="2362200"/>
            <a:ext cx="2159000" cy="167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4089400" y="2590800"/>
            <a:ext cx="4572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4089400" y="274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4089400" y="30226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Запрос к API</a:t>
            </a:r>
            <a:endParaRPr lang="ru-RU" altLang="en-US" sz="12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4089400" y="3378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Volley отправляет GET-запрос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Стрелка вправо 16"/>
          <p:cNvSpPr/>
          <p:nvPr/>
        </p:nvSpPr>
        <p:spPr>
          <a:xfrm>
            <a:off x="6019800" y="3060700"/>
            <a:ext cx="177800" cy="279400"/>
          </a:xfrm>
          <a:prstGeom prst="rightArrow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6197600" y="2362200"/>
            <a:ext cx="2159000" cy="167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6451600" y="2590800"/>
            <a:ext cx="4572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0" name="Текстовое поле 19"/>
          <p:cNvSpPr txBox="1"/>
          <p:nvPr/>
        </p:nvSpPr>
        <p:spPr>
          <a:xfrm>
            <a:off x="6451600" y="274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6451600" y="30226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Ответ JSON</a:t>
            </a:r>
            <a:endParaRPr lang="ru-RU" altLang="en-US" sz="12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6451600" y="3378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Сервис возвращает данные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Стрелка вправо 22"/>
          <p:cNvSpPr/>
          <p:nvPr/>
        </p:nvSpPr>
        <p:spPr>
          <a:xfrm>
            <a:off x="8382000" y="3060700"/>
            <a:ext cx="177800" cy="279400"/>
          </a:xfrm>
          <a:prstGeom prst="rightArrow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8559800" y="2362200"/>
            <a:ext cx="2159000" cy="1676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5" name="Прямоугольник 24"/>
          <p:cNvSpPr/>
          <p:nvPr/>
        </p:nvSpPr>
        <p:spPr>
          <a:xfrm>
            <a:off x="8813800" y="2590800"/>
            <a:ext cx="457200" cy="508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6" name="Текстовое поле 25"/>
          <p:cNvSpPr txBox="1"/>
          <p:nvPr/>
        </p:nvSpPr>
        <p:spPr>
          <a:xfrm>
            <a:off x="8813800" y="2743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Текстовое поле 26"/>
          <p:cNvSpPr txBox="1"/>
          <p:nvPr/>
        </p:nvSpPr>
        <p:spPr>
          <a:xfrm>
            <a:off x="8813800" y="30226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25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Вывод на экран</a:t>
            </a:r>
            <a:endParaRPr lang="ru-RU" altLang="en-US" sz="125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Текстовое поле 27"/>
          <p:cNvSpPr txBox="1"/>
          <p:nvPr/>
        </p:nvSpPr>
        <p:spPr>
          <a:xfrm>
            <a:off x="8813800" y="3378200"/>
            <a:ext cx="1651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Температура, давление, ветер</a:t>
            </a:r>
            <a:endParaRPr lang="ru-RU" altLang="en-US" sz="9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Текстовое поле 28"/>
          <p:cNvSpPr txBox="1"/>
          <p:nvPr/>
        </p:nvSpPr>
        <p:spPr>
          <a:xfrm>
            <a:off x="812800" y="4724400"/>
            <a:ext cx="105664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Запрос выполняется библиотекой Volley, ответ приходит в формате JSON и разбирается во фрагменте WeatherFragment.</a:t>
            </a:r>
            <a:endParaRPr lang="ru-RU" altLang="en-US" sz="11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30" name="Прямое соединение 29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Текстовое поле 30"/>
          <p:cNvSpPr txBox="1"/>
          <p:nvPr/>
        </p:nvSpPr>
        <p:spPr>
          <a:xfrm>
            <a:off x="812800" y="6426200"/>
            <a:ext cx="635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9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Погода • Канаева Д.М.</a:t>
            </a:r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" name="Текстовое поле 31"/>
          <p:cNvSpPr txBox="1"/>
          <p:nvPr/>
        </p:nvSpPr>
        <p:spPr>
          <a:xfrm>
            <a:off x="7569200" y="6426200"/>
            <a:ext cx="381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r>
              <a:rPr lang="ru-RU" altLang="en-US" sz="90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ГАПОУ СО «ЕКТС» • 2026</a:t>
            </a:r>
            <a:endParaRPr lang="ru-RU" altLang="en-US" sz="90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812800" y="508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0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ПЕРСПЕКТИВЫ</a:t>
            </a:r>
            <a:endParaRPr lang="ru-RU" altLang="en-US" sz="10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12800" y="812800"/>
            <a:ext cx="76200" cy="457200"/>
          </a:xfrm>
          <a:prstGeom prst="rect">
            <a:avLst/>
          </a:prstGeom>
          <a:solidFill>
            <a:srgbClr val="FF2E9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66800" y="762000"/>
            <a:ext cx="8890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8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Перспективы разработки</a:t>
            </a:r>
            <a:endParaRPr lang="ru-RU" altLang="en-US" sz="28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10236200" y="431800"/>
            <a:ext cx="11430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/>
            <a:endParaRPr lang="ru-RU" altLang="en-US" sz="4400" b="1">
              <a:solidFill>
                <a:srgbClr val="FFE3F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12800" y="1905000"/>
            <a:ext cx="33020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143000" y="2235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2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ru-RU" altLang="en-US" sz="22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143000" y="2819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Расширение функционала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143000" y="3327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Прогноз на 5 дней, почасовой прогноз и уведомления о погоде.</a:t>
            </a:r>
            <a:endParaRPr lang="ru-RU" altLang="en-US" sz="11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445000" y="1905000"/>
            <a:ext cx="33020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4775200" y="2235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2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ru-RU" altLang="en-US" sz="22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4775200" y="2819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Геолокация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4775200" y="3327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Автоматическое определение города по GPS без ручного ввода.</a:t>
            </a:r>
            <a:endParaRPr lang="ru-RU" altLang="en-US" sz="11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8077200" y="1905000"/>
            <a:ext cx="33020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8407400" y="22352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2200" b="1">
                <a:solidFill>
                  <a:srgbClr val="FF2E93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ru-RU" altLang="en-US" sz="2200" b="1">
              <a:solidFill>
                <a:srgbClr val="FF2E93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8407400" y="2819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400" b="1">
                <a:solidFill>
                  <a:srgbClr val="2A1020"/>
                </a:solidFill>
                <a:latin typeface="Segoe UI" panose="020B0502040204020203" charset="0"/>
                <a:cs typeface="Segoe UI" panose="020B0502040204020203" charset="0"/>
              </a:rPr>
              <a:t>Избранные города</a:t>
            </a:r>
            <a:endParaRPr lang="ru-RU" altLang="en-US" sz="1400" b="1">
              <a:solidFill>
                <a:srgbClr val="2A102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8407400" y="3327400"/>
            <a:ext cx="264160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ru-RU" altLang="en-US" sz="1150">
                <a:solidFill>
                  <a:srgbClr val="7C5C6E"/>
                </a:solidFill>
                <a:latin typeface="Segoe UI" panose="020B0502040204020203" charset="0"/>
                <a:cs typeface="Segoe UI" panose="020B0502040204020203" charset="0"/>
              </a:rPr>
              <a:t>Сохранение списка городов и быстрый переход между ними.</a:t>
            </a:r>
            <a:endParaRPr lang="ru-RU" altLang="en-US" sz="1150">
              <a:solidFill>
                <a:srgbClr val="7C5C6E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cxnSp>
        <p:nvCxnSpPr>
          <p:cNvPr id="18" name="Прямое соединение 17"/>
          <p:cNvCxnSpPr/>
          <p:nvPr/>
        </p:nvCxnSpPr>
        <p:spPr>
          <a:xfrm>
            <a:off x="812800" y="6350000"/>
            <a:ext cx="10566400" cy="635"/>
          </a:xfrm>
          <a:prstGeom prst="line">
            <a:avLst/>
          </a:prstGeom>
          <a:ln w="9525">
            <a:solidFill>
              <a:srgbClr val="F1CDE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3086</Words>
  <Application>WPS Presentation</Application>
  <PresentationFormat>Широкоэкранный</PresentationFormat>
  <Paragraphs>238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Segoe UI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home</dc:creator>
  <cp:lastModifiedBy>Dasya</cp:lastModifiedBy>
  <cp:revision>2</cp:revision>
  <dcterms:created xsi:type="dcterms:W3CDTF">2026-10-28T08:27:00Z</dcterms:created>
  <dcterms:modified xsi:type="dcterms:W3CDTF">2026-10-28T08:35:49Z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494A6D09F079487E8AE5E39946A42805_11</vt:lpwstr>
  </property>
</Properties>
</file>